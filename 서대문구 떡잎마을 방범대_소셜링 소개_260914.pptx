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8288000" cy="10287000"/>
  <p:notesSz cx="6858000" cy="9144000"/>
  <p:embeddedFontLst>
    <p:embeddedFont>
      <p:font typeface="Nanum Square" panose="020B0600000101010101" charset="-127"/>
      <p:regular r:id="rId8"/>
    </p:embeddedFont>
    <p:embeddedFont>
      <p:font typeface="Nanum Square Bold" panose="020B0600000101010101" charset="-127"/>
      <p:regular r:id="rId9"/>
    </p:embeddedFont>
    <p:embeddedFont>
      <p:font typeface="Nanum Square Ultra-Bold" panose="020B0600000101010101" charset="-127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e Petit Cochon" panose="020B0600000101010101" charset="0"/>
      <p:regular r:id="rId15"/>
    </p:embeddedFont>
    <p:embeddedFont>
      <p:font typeface="Noto Sans Kr Bold" panose="020B0200000000000000" pitchFamily="50" charset="-12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42" y="3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52145" y="962178"/>
            <a:ext cx="8962159" cy="22197297"/>
          </a:xfrm>
          <a:custGeom>
            <a:avLst/>
            <a:gdLst/>
            <a:ahLst/>
            <a:cxnLst/>
            <a:rect l="l" t="t" r="r" b="b"/>
            <a:pathLst>
              <a:path w="8962159" h="22197297">
                <a:moveTo>
                  <a:pt x="0" y="0"/>
                </a:moveTo>
                <a:lnTo>
                  <a:pt x="8962158" y="0"/>
                </a:lnTo>
                <a:lnTo>
                  <a:pt x="8962158" y="22197297"/>
                </a:lnTo>
                <a:lnTo>
                  <a:pt x="0" y="22197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496251" y="9826133"/>
            <a:ext cx="1473945" cy="5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4200">
                <a:solidFill>
                  <a:srgbClr val="000000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STB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917216" y="9217914"/>
            <a:ext cx="3415727" cy="574522"/>
            <a:chOff x="0" y="0"/>
            <a:chExt cx="2467393" cy="4150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7393" cy="415013"/>
            </a:xfrm>
            <a:custGeom>
              <a:avLst/>
              <a:gdLst/>
              <a:ahLst/>
              <a:cxnLst/>
              <a:rect l="l" t="t" r="r" b="b"/>
              <a:pathLst>
                <a:path w="2467393" h="415013">
                  <a:moveTo>
                    <a:pt x="2264193" y="0"/>
                  </a:moveTo>
                  <a:cubicBezTo>
                    <a:pt x="2376417" y="0"/>
                    <a:pt x="2467393" y="92904"/>
                    <a:pt x="2467393" y="207507"/>
                  </a:cubicBezTo>
                  <a:cubicBezTo>
                    <a:pt x="2467393" y="322109"/>
                    <a:pt x="2376417" y="415013"/>
                    <a:pt x="2264193" y="415013"/>
                  </a:cubicBezTo>
                  <a:lnTo>
                    <a:pt x="203200" y="415013"/>
                  </a:lnTo>
                  <a:cubicBezTo>
                    <a:pt x="90976" y="415013"/>
                    <a:pt x="0" y="322109"/>
                    <a:pt x="0" y="207507"/>
                  </a:cubicBezTo>
                  <a:cubicBezTo>
                    <a:pt x="0" y="9290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467393" cy="395963"/>
            </a:xfrm>
            <a:prstGeom prst="rect">
              <a:avLst/>
            </a:prstGeom>
          </p:spPr>
          <p:txBody>
            <a:bodyPr lIns="51889" tIns="51889" rIns="51889" bIns="51889" rtlCol="0" anchor="ctr"/>
            <a:lstStyle/>
            <a:p>
              <a:pPr algn="ctr">
                <a:lnSpc>
                  <a:spcPts val="2047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020730" y="9440180"/>
            <a:ext cx="3208698" cy="25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5"/>
              </a:lnSpc>
            </a:pPr>
            <a:r>
              <a:rPr lang="en-US" sz="2100" spc="84">
                <a:solidFill>
                  <a:srgbClr val="FFFFFF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@PEOPLE TEAM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79348" y="2388814"/>
            <a:ext cx="7707752" cy="178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40"/>
              </a:lnSpc>
            </a:pPr>
            <a:r>
              <a:rPr lang="en-US" sz="12000" b="1" spc="-840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소셜링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79348" y="1522293"/>
            <a:ext cx="7707752" cy="828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2"/>
              </a:lnSpc>
            </a:pPr>
            <a:r>
              <a:rPr lang="en-US" sz="5600" b="1" spc="-392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서대문구 떡잎마을 방범대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14303" y="4933950"/>
            <a:ext cx="3821552" cy="395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3600" b="1" spc="-252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#보드게임</a:t>
            </a:r>
          </a:p>
          <a:p>
            <a:pPr algn="ctr">
              <a:lnSpc>
                <a:spcPts val="6300"/>
              </a:lnSpc>
            </a:pPr>
            <a:r>
              <a:rPr lang="en-US" sz="3600" b="1" spc="-252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#전시회</a:t>
            </a:r>
          </a:p>
          <a:p>
            <a:pPr algn="ctr">
              <a:lnSpc>
                <a:spcPts val="6300"/>
              </a:lnSpc>
            </a:pPr>
            <a:r>
              <a:rPr lang="en-US" sz="3600" b="1" spc="-252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#볼링</a:t>
            </a:r>
          </a:p>
          <a:p>
            <a:pPr algn="ctr">
              <a:lnSpc>
                <a:spcPts val="6300"/>
              </a:lnSpc>
            </a:pPr>
            <a:r>
              <a:rPr lang="en-US" sz="3600" b="1" spc="-252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#인스타 챌린지</a:t>
            </a:r>
          </a:p>
          <a:p>
            <a:pPr algn="ctr">
              <a:lnSpc>
                <a:spcPts val="6300"/>
              </a:lnSpc>
            </a:pPr>
            <a:r>
              <a:rPr lang="en-US" sz="3600" b="1" spc="-252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#스포츠 등등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12233825" y="5782923"/>
            <a:ext cx="2782510" cy="0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12233825" y="6601001"/>
            <a:ext cx="2782510" cy="0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2233825" y="7419078"/>
            <a:ext cx="2782510" cy="0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12233825" y="8237156"/>
            <a:ext cx="2782510" cy="0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6708679" y="8958694"/>
            <a:ext cx="104908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STB 로고 추가 요청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8272" y="1685075"/>
            <a:ext cx="17811279" cy="6916850"/>
            <a:chOff x="0" y="0"/>
            <a:chExt cx="4691037" cy="1821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91037" cy="1821722"/>
            </a:xfrm>
            <a:custGeom>
              <a:avLst/>
              <a:gdLst/>
              <a:ahLst/>
              <a:cxnLst/>
              <a:rect l="l" t="t" r="r" b="b"/>
              <a:pathLst>
                <a:path w="4691037" h="1821722">
                  <a:moveTo>
                    <a:pt x="0" y="0"/>
                  </a:moveTo>
                  <a:lnTo>
                    <a:pt x="4691037" y="0"/>
                  </a:lnTo>
                  <a:lnTo>
                    <a:pt x="4691037" y="1821722"/>
                  </a:lnTo>
                  <a:lnTo>
                    <a:pt x="0" y="1821722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691037" cy="1869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6170771" y="2364416"/>
            <a:ext cx="0" cy="5558168"/>
          </a:xfrm>
          <a:prstGeom prst="line">
            <a:avLst/>
          </a:prstGeom>
          <a:ln w="666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778363" y="2700964"/>
            <a:ext cx="5714821" cy="14024101"/>
          </a:xfrm>
          <a:custGeom>
            <a:avLst/>
            <a:gdLst/>
            <a:ahLst/>
            <a:cxnLst/>
            <a:rect l="l" t="t" r="r" b="b"/>
            <a:pathLst>
              <a:path w="5714821" h="14024101">
                <a:moveTo>
                  <a:pt x="0" y="0"/>
                </a:moveTo>
                <a:lnTo>
                  <a:pt x="5714821" y="0"/>
                </a:lnTo>
                <a:lnTo>
                  <a:pt x="5714821" y="14024102"/>
                </a:lnTo>
                <a:lnTo>
                  <a:pt x="0" y="14024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84609" y="8639009"/>
            <a:ext cx="1473945" cy="422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3600">
                <a:solidFill>
                  <a:srgbClr val="000000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STB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438238" y="8358529"/>
            <a:ext cx="2554362" cy="429641"/>
            <a:chOff x="0" y="0"/>
            <a:chExt cx="2467393" cy="4150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67393" cy="415013"/>
            </a:xfrm>
            <a:custGeom>
              <a:avLst/>
              <a:gdLst/>
              <a:ahLst/>
              <a:cxnLst/>
              <a:rect l="l" t="t" r="r" b="b"/>
              <a:pathLst>
                <a:path w="2467393" h="415013">
                  <a:moveTo>
                    <a:pt x="2264193" y="0"/>
                  </a:moveTo>
                  <a:cubicBezTo>
                    <a:pt x="2376417" y="0"/>
                    <a:pt x="2467393" y="92904"/>
                    <a:pt x="2467393" y="207507"/>
                  </a:cubicBezTo>
                  <a:cubicBezTo>
                    <a:pt x="2467393" y="322109"/>
                    <a:pt x="2376417" y="415013"/>
                    <a:pt x="2264193" y="415013"/>
                  </a:cubicBezTo>
                  <a:lnTo>
                    <a:pt x="203200" y="415013"/>
                  </a:lnTo>
                  <a:cubicBezTo>
                    <a:pt x="90976" y="415013"/>
                    <a:pt x="0" y="322109"/>
                    <a:pt x="0" y="207507"/>
                  </a:cubicBezTo>
                  <a:cubicBezTo>
                    <a:pt x="0" y="9290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2467393" cy="395963"/>
            </a:xfrm>
            <a:prstGeom prst="rect">
              <a:avLst/>
            </a:prstGeom>
          </p:spPr>
          <p:txBody>
            <a:bodyPr lIns="51889" tIns="51889" rIns="51889" bIns="51889" rtlCol="0" anchor="ctr"/>
            <a:lstStyle/>
            <a:p>
              <a:pPr algn="ctr">
                <a:lnSpc>
                  <a:spcPts val="204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630066" y="8496388"/>
            <a:ext cx="2170707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"/>
              </a:lnSpc>
            </a:pPr>
            <a:r>
              <a:rPr lang="en-US" sz="1800" spc="72">
                <a:solidFill>
                  <a:srgbClr val="FFFFFF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@PEOPLE TEAM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1063" y="2855800"/>
            <a:ext cx="4366092" cy="828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5600" b="1" spc="-28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소셜링 소개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17102" y="3990146"/>
            <a:ext cx="9811148" cy="46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소셜링 목적: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17102" y="4498908"/>
            <a:ext cx="9811148" cy="34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봉사단체이지만 단순 활동을 넘어 동네 친구를 만드는 커뮤니티를 지향합니다.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17102" y="5212865"/>
            <a:ext cx="9811148" cy="46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소셜링 활동: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17102" y="5721627"/>
            <a:ext cx="9811148" cy="34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봉사 외에도 함께 시간을 보내며 친해질 수 있는 다양한 모임을 진행합니다.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17102" y="6435584"/>
            <a:ext cx="9811148" cy="46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소셜링 예시: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17102" y="6944346"/>
            <a:ext cx="9811148" cy="348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봉사단체이지만 단순 활동을 넘어 동네 친구를 만드는 커뮤니티를 지향합니다.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97037" y="7757484"/>
            <a:ext cx="104908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STB 로고 추가 요청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7843" y="659245"/>
            <a:ext cx="16972313" cy="7887738"/>
            <a:chOff x="0" y="0"/>
            <a:chExt cx="4470074" cy="20774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0074" cy="2077429"/>
            </a:xfrm>
            <a:custGeom>
              <a:avLst/>
              <a:gdLst/>
              <a:ahLst/>
              <a:cxnLst/>
              <a:rect l="l" t="t" r="r" b="b"/>
              <a:pathLst>
                <a:path w="4470074" h="2077429">
                  <a:moveTo>
                    <a:pt x="0" y="0"/>
                  </a:moveTo>
                  <a:lnTo>
                    <a:pt x="4470074" y="0"/>
                  </a:lnTo>
                  <a:lnTo>
                    <a:pt x="4470074" y="2077429"/>
                  </a:lnTo>
                  <a:lnTo>
                    <a:pt x="0" y="2077429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70074" cy="2125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019465" y="5073729"/>
            <a:ext cx="6249070" cy="12818604"/>
          </a:xfrm>
          <a:custGeom>
            <a:avLst/>
            <a:gdLst/>
            <a:ahLst/>
            <a:cxnLst/>
            <a:rect l="l" t="t" r="r" b="b"/>
            <a:pathLst>
              <a:path w="6249070" h="12818604">
                <a:moveTo>
                  <a:pt x="0" y="0"/>
                </a:moveTo>
                <a:lnTo>
                  <a:pt x="6249070" y="0"/>
                </a:lnTo>
                <a:lnTo>
                  <a:pt x="6249070" y="12818604"/>
                </a:lnTo>
                <a:lnTo>
                  <a:pt x="0" y="12818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391952" y="8252971"/>
            <a:ext cx="2554362" cy="429641"/>
            <a:chOff x="0" y="0"/>
            <a:chExt cx="2467393" cy="4150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7393" cy="415013"/>
            </a:xfrm>
            <a:custGeom>
              <a:avLst/>
              <a:gdLst/>
              <a:ahLst/>
              <a:cxnLst/>
              <a:rect l="l" t="t" r="r" b="b"/>
              <a:pathLst>
                <a:path w="2467393" h="415013">
                  <a:moveTo>
                    <a:pt x="2264193" y="0"/>
                  </a:moveTo>
                  <a:cubicBezTo>
                    <a:pt x="2376417" y="0"/>
                    <a:pt x="2467393" y="92904"/>
                    <a:pt x="2467393" y="207507"/>
                  </a:cubicBezTo>
                  <a:cubicBezTo>
                    <a:pt x="2467393" y="322109"/>
                    <a:pt x="2376417" y="415013"/>
                    <a:pt x="2264193" y="415013"/>
                  </a:cubicBezTo>
                  <a:lnTo>
                    <a:pt x="203200" y="415013"/>
                  </a:lnTo>
                  <a:cubicBezTo>
                    <a:pt x="90976" y="415013"/>
                    <a:pt x="0" y="322109"/>
                    <a:pt x="0" y="207507"/>
                  </a:cubicBezTo>
                  <a:cubicBezTo>
                    <a:pt x="0" y="9290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2467393" cy="395963"/>
            </a:xfrm>
            <a:prstGeom prst="rect">
              <a:avLst/>
            </a:prstGeom>
          </p:spPr>
          <p:txBody>
            <a:bodyPr lIns="51889" tIns="51889" rIns="51889" bIns="51889" rtlCol="0" anchor="ctr"/>
            <a:lstStyle/>
            <a:p>
              <a:pPr algn="ctr">
                <a:lnSpc>
                  <a:spcPts val="2047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H="1" flipV="1">
            <a:off x="6442959" y="3077594"/>
            <a:ext cx="0" cy="1996135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 flipV="1">
            <a:off x="11845041" y="3077594"/>
            <a:ext cx="0" cy="1996135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8776996" y="9594733"/>
            <a:ext cx="1473945" cy="422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3600">
                <a:solidFill>
                  <a:srgbClr val="000000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STB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83780" y="8390829"/>
            <a:ext cx="2170707" cy="21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8"/>
              </a:lnSpc>
            </a:pPr>
            <a:r>
              <a:rPr lang="en-US" sz="1800" spc="72">
                <a:solidFill>
                  <a:srgbClr val="FFFFFF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@PEOPLE TEAM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80383" y="1645630"/>
            <a:ext cx="5527234" cy="828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72"/>
              </a:lnSpc>
            </a:pPr>
            <a:r>
              <a:rPr lang="en-US" sz="5600" b="1" spc="-28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소셜링 운영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22530" y="3417037"/>
            <a:ext cx="4242940" cy="46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4"/>
              </a:lnSpc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모임 인원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9422" y="4004968"/>
            <a:ext cx="4709157" cy="68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소셜링은 </a:t>
            </a:r>
            <a:r>
              <a:rPr lang="en-US" sz="2400" b="1" spc="-120">
                <a:solidFill>
                  <a:srgbClr val="FF751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최소 3인 이상 </a:t>
            </a: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모이면 자유롭게 진행할 수 있습니다.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17487" y="3417037"/>
            <a:ext cx="4242940" cy="46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4"/>
              </a:lnSpc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공동 호스트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31599" y="4004968"/>
            <a:ext cx="4814715" cy="681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대원도 운영진과 함께 </a:t>
            </a:r>
            <a:r>
              <a:rPr lang="en-US" sz="2400" b="1" spc="-120">
                <a:solidFill>
                  <a:srgbClr val="FF751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공동 호스트</a:t>
            </a: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로 </a:t>
            </a:r>
          </a:p>
          <a:p>
            <a:pPr algn="ctr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소셜링을 기획할 수 있습니다.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0253" y="3417037"/>
            <a:ext cx="4242940" cy="46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4"/>
              </a:lnSpc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운영진 참여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97145" y="4004968"/>
            <a:ext cx="4709157" cy="1014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모든 소셜링에는 </a:t>
            </a:r>
            <a:r>
              <a:rPr lang="en-US" sz="2400" b="1" spc="-120">
                <a:solidFill>
                  <a:srgbClr val="FF751F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운영진 1명 이상</a:t>
            </a: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이 </a:t>
            </a:r>
          </a:p>
          <a:p>
            <a:pPr algn="ctr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필수 참여하여 안전하고 원활하게 </a:t>
            </a:r>
          </a:p>
          <a:p>
            <a:pPr algn="ctr">
              <a:lnSpc>
                <a:spcPts val="2688"/>
              </a:lnSpc>
            </a:pPr>
            <a:r>
              <a:rPr lang="en-US" sz="2400" b="1" spc="-12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진행합니다.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89424" y="8916871"/>
            <a:ext cx="1049089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b="1">
                <a:solidFill>
                  <a:srgbClr val="FF3131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STB 로고 추가 요청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42470" y="2685290"/>
            <a:ext cx="9811148" cy="461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4"/>
              </a:lnSpc>
            </a:pPr>
            <a:r>
              <a:rPr 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수상 내역: 2028 디지털 크리에이터 경연대회 우승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30475" y="436518"/>
            <a:ext cx="5817569" cy="828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2"/>
              </a:lnSpc>
            </a:pPr>
            <a:r>
              <a:rPr lang="en-US" sz="5600" b="1" spc="-28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어떤 활동을 하나요?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F28AB7A-5CC0-448F-A59B-5DF8A983134A}"/>
              </a:ext>
            </a:extLst>
          </p:cNvPr>
          <p:cNvGrpSpPr/>
          <p:nvPr/>
        </p:nvGrpSpPr>
        <p:grpSpPr>
          <a:xfrm>
            <a:off x="2531506" y="1283990"/>
            <a:ext cx="13224989" cy="2073393"/>
            <a:chOff x="2531506" y="1283990"/>
            <a:chExt cx="13224989" cy="2073393"/>
          </a:xfrm>
        </p:grpSpPr>
        <p:grpSp>
          <p:nvGrpSpPr>
            <p:cNvPr id="3" name="Group 3"/>
            <p:cNvGrpSpPr/>
            <p:nvPr/>
          </p:nvGrpSpPr>
          <p:grpSpPr>
            <a:xfrm>
              <a:off x="2531506" y="1283990"/>
              <a:ext cx="13224989" cy="2073393"/>
              <a:chOff x="0" y="0"/>
              <a:chExt cx="3483125" cy="54607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483125" cy="546079"/>
              </a:xfrm>
              <a:custGeom>
                <a:avLst/>
                <a:gdLst/>
                <a:ahLst/>
                <a:cxnLst/>
                <a:rect l="l" t="t" r="r" b="b"/>
                <a:pathLst>
                  <a:path w="3483125" h="546079">
                    <a:moveTo>
                      <a:pt x="0" y="0"/>
                    </a:moveTo>
                    <a:lnTo>
                      <a:pt x="3483125" y="0"/>
                    </a:lnTo>
                    <a:lnTo>
                      <a:pt x="3483125" y="546079"/>
                    </a:lnTo>
                    <a:lnTo>
                      <a:pt x="0" y="546079"/>
                    </a:ln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3483125" cy="593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980533" y="2099642"/>
              <a:ext cx="9811148" cy="461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n-US" sz="3200" b="1" spc="-160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🎲 게임 / 취미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72180" y="1534297"/>
              <a:ext cx="9811148" cy="153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보드게임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방탈출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볼링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실내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레이저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사격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92E4E8C-49C8-4F80-94DD-1317643D7A71}"/>
              </a:ext>
            </a:extLst>
          </p:cNvPr>
          <p:cNvGrpSpPr/>
          <p:nvPr/>
        </p:nvGrpSpPr>
        <p:grpSpPr>
          <a:xfrm>
            <a:off x="2531506" y="3431118"/>
            <a:ext cx="13224989" cy="2073393"/>
            <a:chOff x="2531506" y="3395482"/>
            <a:chExt cx="13224989" cy="2073393"/>
          </a:xfrm>
        </p:grpSpPr>
        <p:grpSp>
          <p:nvGrpSpPr>
            <p:cNvPr id="6" name="Group 6"/>
            <p:cNvGrpSpPr/>
            <p:nvPr/>
          </p:nvGrpSpPr>
          <p:grpSpPr>
            <a:xfrm>
              <a:off x="2531506" y="3395482"/>
              <a:ext cx="13224989" cy="2073393"/>
              <a:chOff x="0" y="0"/>
              <a:chExt cx="3483125" cy="5460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483125" cy="546079"/>
              </a:xfrm>
              <a:custGeom>
                <a:avLst/>
                <a:gdLst/>
                <a:ahLst/>
                <a:cxnLst/>
                <a:rect l="l" t="t" r="r" b="b"/>
                <a:pathLst>
                  <a:path w="3483125" h="546079">
                    <a:moveTo>
                      <a:pt x="0" y="0"/>
                    </a:moveTo>
                    <a:lnTo>
                      <a:pt x="3483125" y="0"/>
                    </a:lnTo>
                    <a:lnTo>
                      <a:pt x="3483125" y="546079"/>
                    </a:lnTo>
                    <a:lnTo>
                      <a:pt x="0" y="546079"/>
                    </a:ln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3483125" cy="593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2980533" y="4195582"/>
              <a:ext cx="9811148" cy="461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n-US" sz="3200" b="1" spc="-160" dirty="0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🎭 </a:t>
              </a:r>
              <a:r>
                <a:rPr lang="en-US" sz="3200" b="1" spc="-160" dirty="0" err="1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문화</a:t>
              </a:r>
              <a:endPara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72180" y="3647922"/>
              <a:ext cx="9811148" cy="153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전시회</a:t>
              </a: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영화 관람</a:t>
              </a: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연극 관람</a:t>
              </a: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야구 관람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850920" y="3633671"/>
            <a:ext cx="9811148" cy="114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sz="2400" spc="-120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체험행사</a:t>
            </a:r>
            <a:r>
              <a: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(</a:t>
            </a:r>
            <a:r>
              <a:rPr lang="en-US" sz="2400" spc="-120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전통주</a:t>
            </a:r>
            <a:r>
              <a: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00" spc="-120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만들기</a:t>
            </a:r>
            <a:r>
              <a: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등)</a:t>
            </a:r>
          </a:p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sz="2400" spc="-120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지역</a:t>
            </a:r>
            <a:r>
              <a: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00" spc="-120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축제</a:t>
            </a:r>
            <a:r>
              <a: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en-US" sz="2400" spc="-120" dirty="0" err="1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탐방</a:t>
            </a:r>
            <a:endParaRPr lang="en-US" sz="2400" spc="-120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ko-KR" alt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캠핑</a:t>
            </a:r>
            <a:endParaRPr lang="en-US" sz="2400" spc="-120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ED95831-8DB0-471F-B16A-0680D39C1C7F}"/>
              </a:ext>
            </a:extLst>
          </p:cNvPr>
          <p:cNvGrpSpPr/>
          <p:nvPr/>
        </p:nvGrpSpPr>
        <p:grpSpPr>
          <a:xfrm>
            <a:off x="2531506" y="5578246"/>
            <a:ext cx="13224989" cy="2073393"/>
            <a:chOff x="2531506" y="5613882"/>
            <a:chExt cx="13224989" cy="2073393"/>
          </a:xfrm>
        </p:grpSpPr>
        <p:grpSp>
          <p:nvGrpSpPr>
            <p:cNvPr id="9" name="Group 9"/>
            <p:cNvGrpSpPr/>
            <p:nvPr/>
          </p:nvGrpSpPr>
          <p:grpSpPr>
            <a:xfrm>
              <a:off x="2531506" y="5613882"/>
              <a:ext cx="13224989" cy="2073393"/>
              <a:chOff x="0" y="0"/>
              <a:chExt cx="3483125" cy="54607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483125" cy="546079"/>
              </a:xfrm>
              <a:custGeom>
                <a:avLst/>
                <a:gdLst/>
                <a:ahLst/>
                <a:cxnLst/>
                <a:rect l="l" t="t" r="r" b="b"/>
                <a:pathLst>
                  <a:path w="3483125" h="546079">
                    <a:moveTo>
                      <a:pt x="0" y="0"/>
                    </a:moveTo>
                    <a:lnTo>
                      <a:pt x="3483125" y="0"/>
                    </a:lnTo>
                    <a:lnTo>
                      <a:pt x="3483125" y="546079"/>
                    </a:lnTo>
                    <a:lnTo>
                      <a:pt x="0" y="546079"/>
                    </a:ln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3483125" cy="593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980533" y="6414218"/>
              <a:ext cx="9811148" cy="461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n-US" sz="3200" b="1" spc="-160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⚽ 스포츠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72180" y="5866557"/>
              <a:ext cx="9811148" cy="1537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인왕산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등산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볼링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풋살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런닝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크루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7D51C65-5FA4-4C11-ABD0-873177FF77A5}"/>
              </a:ext>
            </a:extLst>
          </p:cNvPr>
          <p:cNvGrpSpPr/>
          <p:nvPr/>
        </p:nvGrpSpPr>
        <p:grpSpPr>
          <a:xfrm>
            <a:off x="2531506" y="7725375"/>
            <a:ext cx="13224989" cy="2243201"/>
            <a:chOff x="2531506" y="7725375"/>
            <a:chExt cx="13224989" cy="2243201"/>
          </a:xfrm>
        </p:grpSpPr>
        <p:grpSp>
          <p:nvGrpSpPr>
            <p:cNvPr id="12" name="Group 12"/>
            <p:cNvGrpSpPr/>
            <p:nvPr/>
          </p:nvGrpSpPr>
          <p:grpSpPr>
            <a:xfrm>
              <a:off x="2531506" y="7725375"/>
              <a:ext cx="13224989" cy="2073393"/>
              <a:chOff x="0" y="0"/>
              <a:chExt cx="3483125" cy="54607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483125" cy="546079"/>
              </a:xfrm>
              <a:custGeom>
                <a:avLst/>
                <a:gdLst/>
                <a:ahLst/>
                <a:cxnLst/>
                <a:rect l="l" t="t" r="r" b="b"/>
                <a:pathLst>
                  <a:path w="3483125" h="546079">
                    <a:moveTo>
                      <a:pt x="0" y="0"/>
                    </a:moveTo>
                    <a:lnTo>
                      <a:pt x="3483125" y="0"/>
                    </a:lnTo>
                    <a:lnTo>
                      <a:pt x="3483125" y="546079"/>
                    </a:lnTo>
                    <a:lnTo>
                      <a:pt x="0" y="546079"/>
                    </a:lnTo>
                    <a:close/>
                  </a:path>
                </a:pathLst>
              </a:custGeom>
              <a:solidFill>
                <a:srgbClr val="FFFFFF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47625"/>
                <a:ext cx="3483125" cy="593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3028966" y="9538935"/>
              <a:ext cx="2554362" cy="429641"/>
              <a:chOff x="0" y="0"/>
              <a:chExt cx="2467393" cy="415013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467393" cy="415013"/>
              </a:xfrm>
              <a:custGeom>
                <a:avLst/>
                <a:gdLst/>
                <a:ahLst/>
                <a:cxnLst/>
                <a:rect l="l" t="t" r="r" b="b"/>
                <a:pathLst>
                  <a:path w="2467393" h="415013">
                    <a:moveTo>
                      <a:pt x="2264193" y="0"/>
                    </a:moveTo>
                    <a:cubicBezTo>
                      <a:pt x="2376417" y="0"/>
                      <a:pt x="2467393" y="92904"/>
                      <a:pt x="2467393" y="207507"/>
                    </a:cubicBezTo>
                    <a:cubicBezTo>
                      <a:pt x="2467393" y="322109"/>
                      <a:pt x="2376417" y="415013"/>
                      <a:pt x="2264193" y="415013"/>
                    </a:cubicBezTo>
                    <a:lnTo>
                      <a:pt x="203200" y="415013"/>
                    </a:lnTo>
                    <a:cubicBezTo>
                      <a:pt x="90976" y="415013"/>
                      <a:pt x="0" y="322109"/>
                      <a:pt x="0" y="207507"/>
                    </a:cubicBezTo>
                    <a:cubicBezTo>
                      <a:pt x="0" y="92904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19050"/>
                <a:ext cx="2467393" cy="395963"/>
              </a:xfrm>
              <a:prstGeom prst="rect">
                <a:avLst/>
              </a:prstGeom>
            </p:spPr>
            <p:txBody>
              <a:bodyPr lIns="51889" tIns="51889" rIns="51889" bIns="51889" rtlCol="0" anchor="ctr"/>
              <a:lstStyle/>
              <a:p>
                <a:pPr algn="ctr">
                  <a:lnSpc>
                    <a:spcPts val="2047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3220794" y="9676794"/>
              <a:ext cx="2170707" cy="211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48"/>
                </a:lnSpc>
              </a:pPr>
              <a:r>
                <a:rPr lang="en-US" sz="1800" spc="72">
                  <a:solidFill>
                    <a:srgbClr val="FFFFFF"/>
                  </a:solidFill>
                  <a:latin typeface="Le Petit Cochon"/>
                  <a:ea typeface="Le Petit Cochon"/>
                  <a:cs typeface="Le Petit Cochon"/>
                  <a:sym typeface="Le Petit Cochon"/>
                </a:rPr>
                <a:t>@PEOPLE TEAM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80533" y="8511160"/>
              <a:ext cx="9811148" cy="461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84"/>
                </a:lnSpc>
              </a:pPr>
              <a:r>
                <a:rPr lang="en-US" sz="3200" b="1" spc="-160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🍜 자유 소셜링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72180" y="7963500"/>
              <a:ext cx="9811148" cy="1527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맛집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탐방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벨런스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게임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토론회</a:t>
              </a:r>
              <a:endParaRPr 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인스타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챌린지</a:t>
              </a:r>
              <a:endParaRPr lang="en-US" sz="2400" spc="-12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endParaRPr>
            </a:p>
            <a:p>
              <a:pPr marL="518160" lvl="1" indent="-259080" algn="l">
                <a:lnSpc>
                  <a:spcPts val="3000"/>
                </a:lnSpc>
                <a:buFont typeface="Arial"/>
                <a:buChar char="•"/>
              </a:pPr>
              <a:r>
                <a:rPr lang="en-US" sz="2400" spc="-12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봉사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</a:t>
              </a:r>
              <a:r>
                <a:rPr lang="en-US" sz="2400" spc="-120" dirty="0" err="1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소셜링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(</a:t>
              </a:r>
              <a:r>
                <a:rPr lang="ko-KR" alt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구세군 봉사 </a:t>
              </a:r>
              <a:r>
                <a:rPr lang="en-US" sz="2400" spc="-120" dirty="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등)</a:t>
              </a:r>
            </a:p>
          </p:txBody>
        </p: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3BD23A08-96D3-41A0-938C-4DF2CBEAA8E2}"/>
              </a:ext>
            </a:extLst>
          </p:cNvPr>
          <p:cNvSpPr txBox="1"/>
          <p:nvPr/>
        </p:nvSpPr>
        <p:spPr>
          <a:xfrm>
            <a:off x="10850920" y="1460032"/>
            <a:ext cx="9811148" cy="373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000"/>
              </a:lnSpc>
              <a:buFont typeface="Arial"/>
              <a:buChar char="•"/>
            </a:pPr>
            <a:r>
              <a:rPr lang="en-US" altLang="ko-KR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e</a:t>
            </a:r>
            <a:r>
              <a:rPr lang="ko-KR" altLang="en-US" sz="2400" spc="-120" dirty="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스포츠</a:t>
            </a:r>
            <a:endParaRPr lang="en-US" altLang="ko-KR" sz="2400" spc="-120" dirty="0">
              <a:solidFill>
                <a:srgbClr val="000000"/>
              </a:solidFill>
              <a:latin typeface="Nanum Square"/>
              <a:ea typeface="Nanum Square"/>
              <a:cs typeface="Nanum Square"/>
              <a:sym typeface="Nanum Squar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FDF8D09-499C-4FD2-81A2-DFF0762F3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38" y="1638300"/>
            <a:ext cx="8267700" cy="8267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F93C55-E54B-4219-A1A1-4C091E51C2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261937"/>
            <a:ext cx="9785062" cy="55102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4F7CBAA-5876-495E-BED0-728DF3AD3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4638675"/>
            <a:ext cx="702476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2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882444B-B5BE-4FC3-92F2-E00A57383D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106" y="4557566"/>
            <a:ext cx="7620001" cy="57150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E41047-5A9A-40EC-912E-332AE5481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57300"/>
            <a:ext cx="6027947" cy="80391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DC8C1A3-6CED-4043-A9C3-5D4FD19E09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0"/>
            <a:ext cx="7245140" cy="543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1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195</Words>
  <Application>Microsoft Office PowerPoint</Application>
  <PresentationFormat>사용자 지정</PresentationFormat>
  <Paragraphs>60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Nanum Square Ultra-Bold</vt:lpstr>
      <vt:lpstr>Arial</vt:lpstr>
      <vt:lpstr>Noto Sans Kr Bold</vt:lpstr>
      <vt:lpstr>Nanum Square</vt:lpstr>
      <vt:lpstr>Le Petit Cochon</vt:lpstr>
      <vt:lpstr>Calibri</vt:lpstr>
      <vt:lpstr>Nanum Square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서대문구 떡잎마을 방범대</dc:title>
  <dc:creator>Jihoon Kwak</dc:creator>
  <cp:lastModifiedBy>곽지훈</cp:lastModifiedBy>
  <cp:revision>6</cp:revision>
  <dcterms:created xsi:type="dcterms:W3CDTF">2006-08-16T00:00:00Z</dcterms:created>
  <dcterms:modified xsi:type="dcterms:W3CDTF">2026-09-14T12:11:44Z</dcterms:modified>
  <dc:identifier>DAHDWbbHa98</dc:identifier>
</cp:coreProperties>
</file>